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· INTERNAL LEARNING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Adobe Experience Platform enablement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Agent Architecture  ·  Workflows · Models · RAG · Schema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5029200"/>
            <a:ext cx="457200" cy="457200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15568" y="5257800"/>
            <a:ext cx="1417320" cy="0"/>
          </a:xfrm>
          <a:prstGeom prst="line">
            <a:avLst/>
          </a:prstGeom>
          <a:noFill/>
          <a:ln w="25400">
            <a:solidFill>
              <a:srgbClr val="3A3D4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32888" y="50292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12848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90088" y="5257800"/>
            <a:ext cx="1417320" cy="0"/>
          </a:xfrm>
          <a:prstGeom prst="line">
            <a:avLst/>
          </a:prstGeom>
          <a:noFill/>
          <a:ln w="25400">
            <a:solidFill>
              <a:srgbClr val="3A3D4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07408" y="5029200"/>
            <a:ext cx="457200" cy="457200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87368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64608" y="5257800"/>
            <a:ext cx="1417320" cy="0"/>
          </a:xfrm>
          <a:prstGeom prst="line">
            <a:avLst/>
          </a:prstGeom>
          <a:noFill/>
          <a:ln w="25400">
            <a:solidFill>
              <a:srgbClr val="3A3D4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81928" y="5029200"/>
            <a:ext cx="457200" cy="45720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61888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39128" y="5257800"/>
            <a:ext cx="1417320" cy="0"/>
          </a:xfrm>
          <a:prstGeom prst="line">
            <a:avLst/>
          </a:prstGeom>
          <a:noFill/>
          <a:ln w="25400">
            <a:solidFill>
              <a:srgbClr val="3A3D4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56448" y="5029200"/>
            <a:ext cx="457200" cy="457200"/>
          </a:xfrm>
          <a:prstGeom prst="ellipse">
            <a:avLst/>
          </a:prstGeom>
          <a:solidFill>
            <a:srgbClr val="B875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36408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28655" y="1417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that adapts to the person, grounded in Adobe's own docs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18488"/>
            <a:ext cx="310896" cy="310896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5544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learner journeys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get a guided onboarding path; experienced practitioners cross-skill into new tracks — the UI, agents and gates all adapt to role, team and tenure.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679192"/>
            <a:ext cx="310896" cy="310896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2615184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core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specialised AI agents (six as LangGraph pipelines) plan curricula, tutor Socratically, run adaptive quizzes, generate capstones and recommend next skills.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739896"/>
            <a:ext cx="310896" cy="310896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 by construction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answer, quiz and capstone is grounded in Adobe Experience League documentation retrieved at runtime, with a hallucination guard on the RAG path.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800600"/>
            <a:ext cx="310896" cy="310896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4736592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Capstones are AI-generated but human-graded against a fixed rubric, with a 7-day deadline and an AI assistant that coaches without doing the work.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0" y="1645920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737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81160" y="1737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0" y="2706624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79806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281160" y="2798064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pipelines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0" y="3767328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38587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281160" y="385876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· failover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0" y="4828032"/>
            <a:ext cx="3840480" cy="960120"/>
          </a:xfrm>
          <a:prstGeom prst="roundRect">
            <a:avLst>
              <a:gd name="adj" fmla="val 8571"/>
            </a:avLst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491947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9281160" y="49194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tables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ten learning surfaces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739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7190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Path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2267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 modules, progress, next-best-action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7739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7190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Quizzes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7136" y="2267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difficulty, min 8 items, 3-attempt cap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28432" y="15544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7739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17190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47888" y="2267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+ Reasoning agents with tool calling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72384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3291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2369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Cards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86384" y="37856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Flashcards, mindmap &amp; summary (PDF/JPEG)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072384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3291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75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369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Scenarios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17136" y="37856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tasks + 'validate my understanding'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28432" y="3072384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3291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312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9952" y="32369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47888" y="37856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Per-track, tiered, human-graded, 7-day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590288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" y="480974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4754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Cross-Skilling Advisor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86384" y="5303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3-lens gap analysis → new track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4590288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98848" y="480974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754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Docs &amp; Lessons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17136" y="5303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AdobeDocs fetched at read time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28432" y="4590288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0" y="480974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4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59952" y="4754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Org Data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247888" y="5303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Directory, tracks, manager &amp; role matrices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grounded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83080"/>
            <a:ext cx="128016" cy="493776"/>
          </a:xfrm>
          <a:prstGeom prst="roundRect">
            <a:avLst>
              <a:gd name="adj" fmla="val 42857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0992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React SPA (single file, Vite)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20391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New-Joiner · Experienced · Manager · Admin dashboards  ·  full-page lessons, study &amp; capstone views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53328" y="2459736"/>
            <a:ext cx="0" cy="146304"/>
          </a:xfrm>
          <a:prstGeom prst="line">
            <a:avLst/>
          </a:prstGeom>
          <a:noFill/>
          <a:ln w="19050">
            <a:solidFill>
              <a:srgbClr val="9AA1A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2606040"/>
            <a:ext cx="1106424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88920"/>
            <a:ext cx="128016" cy="493776"/>
          </a:xfrm>
          <a:prstGeom prst="roundRect">
            <a:avLst>
              <a:gd name="adj" fmla="val 42857"/>
            </a:avLst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71576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FastAPI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30449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(Adobe IMS + session cookie) · agent proxies · quiz/capstone/RAG endpoints · admin uploads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53328" y="3465576"/>
            <a:ext cx="0" cy="146304"/>
          </a:xfrm>
          <a:prstGeom prst="line">
            <a:avLst/>
          </a:prstGeom>
          <a:noFill/>
          <a:ln w="19050">
            <a:solidFill>
              <a:srgbClr val="9AA1A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3611880"/>
            <a:ext cx="11064240" cy="859536"/>
          </a:xfrm>
          <a:prstGeom prst="roundRect">
            <a:avLst>
              <a:gd name="adj" fmla="val 9574"/>
            </a:avLst>
          </a:prstGeom>
          <a:solidFill>
            <a:srgbClr val="FDECEB"/>
          </a:solidFill>
          <a:ln w="19050">
            <a:solidFill>
              <a:srgbClr val="E432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794760"/>
            <a:ext cx="128016" cy="493776"/>
          </a:xfrm>
          <a:prstGeom prst="roundRect">
            <a:avLst>
              <a:gd name="adj" fmla="val 42857"/>
            </a:avLst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72160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 — LangGraph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405079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compiled graphs + orchestrator · shared config · llm_call provider failover · guardrails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4471416"/>
            <a:ext cx="0" cy="146304"/>
          </a:xfrm>
          <a:prstGeom prst="line">
            <a:avLst/>
          </a:prstGeom>
          <a:noFill/>
          <a:ln w="19050">
            <a:solidFill>
              <a:srgbClr val="9AA1A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" y="4617720"/>
            <a:ext cx="1106424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800600"/>
            <a:ext cx="128016" cy="493776"/>
          </a:xfrm>
          <a:prstGeom prst="roundRect">
            <a:avLst>
              <a:gd name="adj" fmla="val 42857"/>
            </a:avLst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727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PostgreSQL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50566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state · curriculum · quiz/CAT · capstone · org data  +  doc_embeddings RAG corpus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53328" y="5477256"/>
            <a:ext cx="0" cy="146304"/>
          </a:xfrm>
          <a:prstGeom prst="line">
            <a:avLst/>
          </a:prstGeom>
          <a:noFill/>
          <a:ln w="19050">
            <a:solidFill>
              <a:srgbClr val="9AA1A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" y="5623560"/>
            <a:ext cx="1106424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806440"/>
            <a:ext cx="128016" cy="493776"/>
          </a:xfrm>
          <a:prstGeom prst="roundRect">
            <a:avLst>
              <a:gd name="adj" fmla="val 42857"/>
            </a:avLst>
          </a:prstGeom>
          <a:solidFill>
            <a:srgbClr val="B875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73328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606247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 &amp;  Anthropic  LLMs      ·      GitHub AdobeDocs (live markdown fetch)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LangGraph pipelines, built at import into GRAPHS{}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55648"/>
            <a:ext cx="402336" cy="402336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6736" y="1737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Agent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231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 (CAT), sequencing, NBA, meta-question router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755648"/>
            <a:ext cx="402336" cy="402336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47488" y="1737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Agent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17136" y="2231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AI Tutor with judge-and-retry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28432" y="155448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5564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78240" y="1737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Cross-Skilling Agent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2231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/ team / role weighted gap 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2935224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136392"/>
            <a:ext cx="402336" cy="402336"/>
          </a:xfrm>
          <a:prstGeom prst="ellipse">
            <a:avLst/>
          </a:prstGeom>
          <a:solidFill>
            <a:srgbClr val="B312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16736" y="31181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Agent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6384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 tiered capstone + human rubric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2935224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3136392"/>
            <a:ext cx="402336" cy="402336"/>
          </a:xfrm>
          <a:prstGeom prst="ellipse">
            <a:avLst/>
          </a:prstGeom>
          <a:solidFill>
            <a:srgbClr val="B875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47488" y="31181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Agent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17136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scenario + understanding scorer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28432" y="2935224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136392"/>
            <a:ext cx="402336" cy="402336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78240" y="31181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47888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retrieval + 5-step cited Q&amp;A pipeline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5262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4617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layer  </a:t>
            </a:r>
            <a:pPr indent="0" marL="0">
              <a:buNone/>
            </a:pPr>
            <a:r>
              <a:rPr lang="en-US" sz="11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Aid (flashcards) · Socratic 'Safe Space' · Session Evaluator · Study Notes · Orchestrator (guardrails + router).  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graph degrades gracefully to sequential node execution when LangGraph is unavailable.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helper, two providers, automatic failover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200400" cy="1280160"/>
          </a:xfrm>
          <a:prstGeom prst="roundRect">
            <a:avLst>
              <a:gd name="adj" fmla="val 6429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llm_call()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helper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67328" y="2377440"/>
            <a:ext cx="822960" cy="0"/>
          </a:xfrm>
          <a:prstGeom prst="line">
            <a:avLst/>
          </a:prstGeom>
          <a:noFill/>
          <a:ln w="31750">
            <a:solidFill>
              <a:srgbClr val="E4322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90288" y="173736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828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PRIMARY — Groq
</a:t>
            </a:r>
            <a:pPr indent="0" marL="0">
              <a:buNone/>
            </a:pPr>
            <a:r>
              <a:rPr lang="en-US" sz="14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openai/gpt-oss-20b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 · effort=low · 3× retry on 429/5xx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73368" y="3017520"/>
            <a:ext cx="0" cy="502920"/>
          </a:xfrm>
          <a:prstGeom prst="line">
            <a:avLst/>
          </a:prstGeom>
          <a:noFill/>
          <a:ln w="25400">
            <a:solidFill>
              <a:srgbClr val="B8750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510528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failure ↓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90288" y="361188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D3AE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37033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3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FAILOVER — Anthropic
</a:t>
            </a:r>
            <a:pPr indent="0" marL="0">
              <a:buNone/>
            </a:pPr>
            <a:r>
              <a:rPr lang="en-US" sz="14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only if BOTH providers fail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6760" y="1737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ROUTING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66760" y="201168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agents: Groq gpt-oss-20b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&amp; quiz-pool: llm_call failover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isolated chain gpt-oss-20b → llama-3.1-8b-instant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'Safe Space' Socratic: Anthropic-primary → Groq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fastembed bge-small-en-v1.5 (local)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vector, fused with Reciprocal Rank Fusion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8608" y="2423160"/>
            <a:ext cx="502920" cy="0"/>
          </a:xfrm>
          <a:prstGeom prst="line">
            <a:avLst/>
          </a:prstGeom>
          <a:noFill/>
          <a:ln w="25400">
            <a:solidFill>
              <a:srgbClr val="9AA1A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72968" y="1417320"/>
            <a:ext cx="3200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B8750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463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leg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keyword scoring · k1=1.5, b=0.75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72968" y="2514600"/>
            <a:ext cx="3200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leg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bge-small-en-v1.5 · cosine in Python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19088" y="1828800"/>
            <a:ext cx="56692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999232"/>
            <a:ext cx="56692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13448" y="192024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E4322B"/>
          </a:solidFill>
          <a:ln w="12700">
            <a:solidFill>
              <a:srgbClr val="E43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1920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
</a:t>
            </a:r>
            <a:pPr algn="ctr" indent="0" marL="0">
              <a:buNone/>
            </a:pPr>
            <a:r>
              <a:rPr lang="en-US" sz="1000" dirty="0">
                <a:solidFill>
                  <a:srgbClr val="F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1/(60+rank) → top-k = 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99448" y="2423160"/>
            <a:ext cx="502920" cy="0"/>
          </a:xfrm>
          <a:prstGeom prst="line">
            <a:avLst/>
          </a:prstGeom>
          <a:noFill/>
          <a:ln w="25400">
            <a:solidFill>
              <a:srgbClr val="9AA1A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02368" y="2011680"/>
            <a:ext cx="1828800" cy="822960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2011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9776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069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really works — and where it can scale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407408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is the doc_embeddings table; vectors are stored as JSON text and cosine is computed in Python — there is no pgvector, so retrieval loads the corpus per query (fine at current scale).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llama-index path is imported but currently inert (embed model nulled) and falls through to the same fastembed+cosine math. Activating pgvector + a live llama-index vector store is the clear next step for a larger corpus.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IS FETCHED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docs in, grounded content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INGESTION → doc_embeddings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783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curriculum_topics
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el_url per topic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2194560"/>
            <a:ext cx="146304" cy="146304"/>
          </a:xfrm>
          <a:prstGeom prst="rightArrow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52344" y="1783080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43784" y="1783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el_url → GitHub
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AdobeDocs/*.en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2194560"/>
            <a:ext cx="146304" cy="146304"/>
          </a:xfrm>
          <a:prstGeom prst="rightArrow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783080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783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clean
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markdown, main/master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58584" y="2194560"/>
            <a:ext cx="146304" cy="146304"/>
          </a:xfrm>
          <a:prstGeom prst="rightArrow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23176" y="1783080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14616" y="1783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
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words · 50 overlap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2194560"/>
            <a:ext cx="146304" cy="146304"/>
          </a:xfrm>
          <a:prstGeom prst="rightArrow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08592" y="1783080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00032" y="1783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
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 → doc_embeddings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108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FETCH — lesson reader (/api/content)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40156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474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open, pulls the exact markdown page live from six AdobeDocs repos </a:t>
            </a:r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(experience-platform, platform-learn, analytics, analytics-platform, analytics-learn, federated-audience-composition) </a:t>
            </a:r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3-tier fallback: direct path → filename search → title-keyword search; returns repo, file path, EL URL &amp; video.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526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3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admin PDF ingestion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818888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846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PDFs → pypdf parse → per-page chunking (350/60) → MD5 dedup → same bge-small embeddings → doc_embeddings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(doc_source='pdf').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learner's question to a grounded, guarded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0482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432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2148840"/>
            <a:ext cx="402336" cy="402336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5877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 + intent router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24328" y="2578608"/>
            <a:ext cx="15544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965960"/>
            <a:ext cx="20482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1488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25877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98648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over Adobe docs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2578608"/>
            <a:ext cx="15544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0912" y="1965960"/>
            <a:ext cx="20482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D3AE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33872" y="2148840"/>
            <a:ext cx="402336" cy="402336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02352" y="25877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/ Generate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LLM (tool calls, CAT, blueprint)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68312" y="2578608"/>
            <a:ext cx="15544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32904" y="1965960"/>
            <a:ext cx="20482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8750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55864" y="2148840"/>
            <a:ext cx="402336" cy="402336"/>
          </a:xfrm>
          <a:prstGeom prst="ellipse">
            <a:avLst/>
          </a:prstGeom>
          <a:solidFill>
            <a:srgbClr val="B875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5864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24344" y="25877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42632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&amp; hallucination check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90304" y="2578608"/>
            <a:ext cx="15544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54896" y="1965960"/>
            <a:ext cx="204825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77856" y="2148840"/>
            <a:ext cx="402336" cy="402336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77856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46336" y="25877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64624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· quiz · capstone → UI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37947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794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corpus   </a:t>
            </a:r>
            <a:pPr indent="0" marL="0">
              <a:buNone/>
            </a:pPr>
            <a:r>
              <a:rPr lang="en-US" sz="11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AdobeDocs (GitHub) → ingest → chunk → embed → </a:t>
            </a:r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doc_embeddings</a:t>
            </a:r>
            <a:pPr indent="0" marL="0">
              <a:buNone/>
            </a:pPr>
            <a:r>
              <a:rPr lang="en-US" sz="11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fed into every 'Retrieve' step above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47091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709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state   </a:t>
            </a:r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confidence_scores · user_module_progress · module_test_outs · quiz_sessions — written by Curriculum, read by Reasoning &amp; Capstone to personalise every stage.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DEEP-DIVE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Agent — adaptive quizzes, sequencing, routing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93138"/>
            <a:ext cx="292608" cy="292608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7931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load_state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confidence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2324405"/>
            <a:ext cx="0" cy="146304"/>
          </a:xfrm>
          <a:prstGeom prst="line">
            <a:avLst/>
          </a:prstGeom>
          <a:noFill/>
          <a:ln w="19050">
            <a:solidFill>
              <a:srgbClr val="E4322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2470709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2709367"/>
            <a:ext cx="292608" cy="292608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7093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470709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sequence · NBA · guardrail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3240634"/>
            <a:ext cx="0" cy="146304"/>
          </a:xfrm>
          <a:prstGeom prst="line">
            <a:avLst/>
          </a:prstGeom>
          <a:noFill/>
          <a:ln w="19050">
            <a:solidFill>
              <a:srgbClr val="E4322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3386938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" y="3625596"/>
            <a:ext cx="292608" cy="292608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625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386938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pool, then CAT session (theta, min 8, 3 attempts)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4156862"/>
            <a:ext cx="0" cy="146304"/>
          </a:xfrm>
          <a:prstGeom prst="line">
            <a:avLst/>
          </a:prstGeom>
          <a:noFill/>
          <a:ln w="19050">
            <a:solidFill>
              <a:srgbClr val="E432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" y="4303166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4541825"/>
            <a:ext cx="292608" cy="292608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54182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303166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vs subject vs Socratic → redirect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" y="5073091"/>
            <a:ext cx="0" cy="146304"/>
          </a:xfrm>
          <a:prstGeom prst="line">
            <a:avLst/>
          </a:prstGeom>
          <a:noFill/>
          <a:ln w="19050">
            <a:solidFill>
              <a:srgbClr val="E4322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" y="5219395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5458054"/>
            <a:ext cx="292608" cy="292608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4580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219395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quality_check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chosen branch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1554480"/>
            <a:ext cx="4709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04888" y="16916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FETCHED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04888" y="196596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Module-scoped RAG grounding pack (curriculum_rag)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cosine floor 0.30, title/track-scoped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03720" y="2926080"/>
            <a:ext cx="4709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04888" y="303580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3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04888" y="3291840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gpt-oss-20b for routing/sequencing; llm_call (Groq→Anthropic) for quiz-pool generation.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4114800"/>
            <a:ext cx="4709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04888" y="422452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04888" y="4480560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curriculum_rag.build_grounding_pack → shared rag.retrieve over doc_embeddings.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5303520"/>
            <a:ext cx="4709160" cy="566928"/>
          </a:xfrm>
          <a:prstGeom prst="roundRect">
            <a:avLst>
              <a:gd name="adj" fmla="val 14516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04888" y="53035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 </a:t>
            </a:r>
            <a:pPr indent="0" marL="0">
              <a:buNone/>
            </a:pPr>
            <a:r>
              <a:rPr lang="en-US" sz="9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quiz_sessions · quiz_answers · quiz_attempts · confidence_scores · module_test_outs · nba_recommendations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DEEP-DIVE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Agent — the tool-calling AI Tutor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93138"/>
            <a:ext cx="292608" cy="292608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7931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load_context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scores, feedback directive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2324405"/>
            <a:ext cx="0" cy="146304"/>
          </a:xfrm>
          <a:prstGeom prst="line">
            <a:avLst/>
          </a:prstGeom>
          <a:noFill/>
          <a:ln w="19050">
            <a:solidFill>
              <a:srgbClr val="6D3AE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2470709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2709367"/>
            <a:ext cx="292608" cy="292608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7093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470709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3240634"/>
            <a:ext cx="0" cy="146304"/>
          </a:xfrm>
          <a:prstGeom prst="line">
            <a:avLst/>
          </a:prstGeom>
          <a:noFill/>
          <a:ln w="19050">
            <a:solidFill>
              <a:srgbClr val="6D3A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3386938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" y="3625596"/>
            <a:ext cx="292608" cy="292608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625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386938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vector search over docs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4156862"/>
            <a:ext cx="0" cy="146304"/>
          </a:xfrm>
          <a:prstGeom prst="line">
            <a:avLst/>
          </a:prstGeom>
          <a:noFill/>
          <a:ln w="19050">
            <a:solidFill>
              <a:srgbClr val="6D3AE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" y="4303166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4541825"/>
            <a:ext cx="292608" cy="292608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54182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303166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· up to 3 tool calls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" y="5073091"/>
            <a:ext cx="0" cy="146304"/>
          </a:xfrm>
          <a:prstGeom prst="line">
            <a:avLst/>
          </a:prstGeom>
          <a:noFill/>
          <a:ln w="19050">
            <a:solidFill>
              <a:srgbClr val="6D3AE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" y="5219395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5458054"/>
            <a:ext cx="292608" cy="292608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4580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219395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→ retry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gate, bounded retries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1554480"/>
            <a:ext cx="4709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04888" y="16916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FETCHED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04888" y="196596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_vector_search over doc_embeddings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tools: search docs · module content · progress · practice Q · update confidence · log milestone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03720" y="2926080"/>
            <a:ext cx="4709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04888" y="303580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3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04888" y="3291840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chain: Groq gpt-oss-20b (tool model) → llama-3.1-8b-instant fallback. 45s budget, MAX_RETRIES=2.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4114800"/>
            <a:ext cx="4709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04888" y="422452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04888" y="4480560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semantic search (not shared rag.retrieve) over the same doc_embeddings corpus.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5303520"/>
            <a:ext cx="4709160" cy="566928"/>
          </a:xfrm>
          <a:prstGeom prst="roundRect">
            <a:avLst>
              <a:gd name="adj" fmla="val 14516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04888" y="53035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 </a:t>
            </a:r>
            <a:pPr indent="0" marL="0">
              <a:buNone/>
            </a:pPr>
            <a:r>
              <a:rPr lang="en-US" sz="9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user_module_progress · skill_assessments · session_summaries · chat_* · telemetry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DEEP-DIVE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Cross-Skilling Agent — where to grow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93138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7931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assess_skills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picture + role journey + manager focus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2324405"/>
            <a:ext cx="0" cy="14630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2470709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2709367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7093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470709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analyse_gaps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· team · role gaps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3240634"/>
            <a:ext cx="0" cy="14630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3386938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" y="3625596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625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386938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score_and_rank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0.40 / 0.35 / 0.25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4156862"/>
            <a:ext cx="0" cy="14630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" y="4303166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4541825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54182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303166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select_rec_type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track · bridge · certify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" y="5073091"/>
            <a:ext cx="0" cy="14630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" y="5219395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545805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4580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219395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validate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copy, track sanity check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1554480"/>
            <a:ext cx="4709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04888" y="16916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FETCHED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04888" y="196596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real org data uploaded by admins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role_learning_journey matrix + manager_hierarchy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03720" y="2926080"/>
            <a:ext cx="4709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04888" y="303580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3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04888" y="3291840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gpt-oss-20b for the recommendation copy; scoring is deterministic in code.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4114800"/>
            <a:ext cx="4709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04888" y="422452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04888" y="4480560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— grounded in structured org tables, not document retrieval.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5303520"/>
            <a:ext cx="4709160" cy="566928"/>
          </a:xfrm>
          <a:prstGeom prst="roundRect">
            <a:avLst>
              <a:gd name="adj" fmla="val 14516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04888" y="53035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 </a:t>
            </a:r>
            <a:pPr indent="0" marL="0">
              <a:buNone/>
            </a:pPr>
            <a:r>
              <a:rPr lang="en-US" sz="9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role_learning_journey · manager_hierarchy (read-only)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DEEP-DIVE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Agent — path-specific, human-graded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93138"/>
            <a:ext cx="292608" cy="292608"/>
          </a:xfrm>
          <a:prstGeom prst="ellipse">
            <a:avLst/>
          </a:prstGeom>
          <a:solidFill>
            <a:srgbClr val="B312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7931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fetch_state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modules + confidence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2324405"/>
            <a:ext cx="0" cy="146304"/>
          </a:xfrm>
          <a:prstGeom prst="line">
            <a:avLst/>
          </a:prstGeom>
          <a:noFill/>
          <a:ln w="19050">
            <a:solidFill>
              <a:srgbClr val="B3120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2470709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2709367"/>
            <a:ext cx="292608" cy="292608"/>
          </a:xfrm>
          <a:prstGeom prst="ellipse">
            <a:avLst/>
          </a:prstGeom>
          <a:solidFill>
            <a:srgbClr val="B312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7093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470709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select_context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+ company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3240634"/>
            <a:ext cx="0" cy="146304"/>
          </a:xfrm>
          <a:prstGeom prst="line">
            <a:avLst/>
          </a:prstGeom>
          <a:noFill/>
          <a:ln w="19050">
            <a:solidFill>
              <a:srgbClr val="B312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3386938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" y="3625596"/>
            <a:ext cx="292608" cy="292608"/>
          </a:xfrm>
          <a:prstGeom prst="ellipse">
            <a:avLst/>
          </a:prstGeom>
          <a:solidFill>
            <a:srgbClr val="B312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625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386938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4156862"/>
            <a:ext cx="0" cy="146304"/>
          </a:xfrm>
          <a:prstGeom prst="line">
            <a:avLst/>
          </a:prstGeom>
          <a:noFill/>
          <a:ln w="19050">
            <a:solidFill>
              <a:srgbClr val="B3120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" y="4303166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4541825"/>
            <a:ext cx="292608" cy="292608"/>
          </a:xfrm>
          <a:prstGeom prst="ellipse">
            <a:avLst/>
          </a:prstGeom>
          <a:solidFill>
            <a:srgbClr val="B312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54182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303166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tasks from per-track BLUEPRINT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" y="5073091"/>
            <a:ext cx="0" cy="146304"/>
          </a:xfrm>
          <a:prstGeom prst="line">
            <a:avLst/>
          </a:prstGeom>
          <a:noFill/>
          <a:ln w="19050">
            <a:solidFill>
              <a:srgbClr val="B3120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" y="5219395"/>
            <a:ext cx="6035040" cy="769925"/>
          </a:xfrm>
          <a:prstGeom prst="roundRect">
            <a:avLst>
              <a:gd name="adj" fmla="val 1068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5458054"/>
            <a:ext cx="292608" cy="292608"/>
          </a:xfrm>
          <a:prstGeom prst="ellipse">
            <a:avLst/>
          </a:prstGeom>
          <a:solidFill>
            <a:srgbClr val="B312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4580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219395"/>
            <a:ext cx="5376672" cy="7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→ validate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human rubric, tier check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1554480"/>
            <a:ext cx="4709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04888" y="16916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FETCHED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04888" y="196596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 blueprint (CDP, AEP, DE, Web SDK, AJO, ACC…)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 module of the finished path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03720" y="2926080"/>
            <a:ext cx="4709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04888" y="303580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3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04888" y="3291840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llm_call (Groq gpt-oss-20b → Anthropic failover); blueprint fallback if both providers are down.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4114800"/>
            <a:ext cx="4709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04888" y="422452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04888" y="4480560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rag.retrieve grounds the scenario in real Adobe docs.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5303520"/>
            <a:ext cx="4709160" cy="566928"/>
          </a:xfrm>
          <a:prstGeom prst="roundRect">
            <a:avLst>
              <a:gd name="adj" fmla="val 14516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04888" y="53035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 </a:t>
            </a:r>
            <a:pPr indent="0" marL="0">
              <a:buNone/>
            </a:pPr>
            <a:r>
              <a:rPr lang="en-US" sz="950" dirty="0">
                <a:solidFill>
                  <a:srgbClr val="AE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confidence_scores · user_module_progress · curriculum_topics → capstone_submissions (due_at +7d)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DEEP-DIVE 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Study-Aid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83080"/>
            <a:ext cx="365760" cy="365760"/>
          </a:xfrm>
          <a:prstGeom prst="ellipse">
            <a:avLst/>
          </a:prstGeom>
          <a:solidFill>
            <a:srgbClr val="B875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resolve_topic — free-text or weakest module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FTS keyword search over docs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— realistic scenario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— flags invented products / fake names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ENTRY POINT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4251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'Validate my understanding' — retrieve context + score the learner's own explanation (not a LangGraph flow)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pPr indent="0" marL="0">
              <a:buNone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gpt-oss-20b  ·  </a:t>
            </a:r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</a:t>
            </a:r>
            <a:pPr indent="0" marL="0">
              <a:buNone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FTS over doc_embeddings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29400" y="1783080"/>
            <a:ext cx="365760" cy="36576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Study-Aid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— 8 reasoning flashcards, one grounded Groq call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— salvage &amp; quality-bar (min 6 cards)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— bounded (MAX_RETRIES=1)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0" y="37947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&amp; OUTPUT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0" y="4069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curriculum_topics fetch (no vector RAG)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Study-Cards mindmap + summary (PDF / JPEG export)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0" y="5212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pPr indent="0" marL="0">
              <a:buNone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_groq_call · gpt-oss-20b · effort=low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DEEP-DIVE ·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family &amp; the cited RAG Q&amp;A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83080"/>
            <a:ext cx="365760" cy="365760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family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3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COOPERATING PIECES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Guided — explanation + hint + follow-up question, can hand off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'Safe Space' Socratic — strict one-question tutor (Anthropic-primary → Groq)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Evaluator — scores a session 0–9 → confidence delta −0.01…+0.02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4983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 </a:t>
            </a:r>
            <a:pPr indent="0" marL="0">
              <a:buNone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directly — can emit a handoff to the RAG / Reasoning agents when a factual lookup is needed.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783080"/>
            <a:ext cx="365760" cy="36576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pipeline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2331720"/>
            <a:ext cx="274320" cy="27432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59168" y="22951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— optimise the query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2898648"/>
            <a:ext cx="274320" cy="27432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59168" y="2862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hybrid BM25 + vector + RRF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3465576"/>
            <a:ext cx="274320" cy="27432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59168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— LLM scores docs 0–6, keeps ≥3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032504"/>
            <a:ext cx="274320" cy="27432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59168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cited, docs-only, ≤300 words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4599432"/>
            <a:ext cx="274320" cy="27432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599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59168" y="45628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— hallucination / grounding check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5257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Groq gpt-oss-20b call; </a:t>
            </a:r>
            <a:pPr indent="0" marL="0">
              <a:buNone/>
            </a:pPr>
            <a:r>
              <a:rPr lang="en-US" sz="10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answer only when the guard confirms it is grounded.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the unified orchestrator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83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24328" y="2167128"/>
            <a:ext cx="15544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178308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DECEB"/>
          </a:solidFill>
          <a:ln w="12700">
            <a:solidFill>
              <a:srgbClr val="E432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1783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2167128"/>
            <a:ext cx="15544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10912" y="178308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02352" y="1783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dispatch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68312" y="2167128"/>
            <a:ext cx="15544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2904" y="178308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24344" y="1783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90304" y="2167128"/>
            <a:ext cx="155448" cy="146304"/>
          </a:xfrm>
          <a:prstGeom prst="rightArrow">
            <a:avLst/>
          </a:prstGeom>
          <a:solidFill>
            <a:srgbClr val="9AA1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54896" y="178308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46336" y="1783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" y="328269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3227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3685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unsafe / off-scope prompts before any agent runs; blocked input skips straight to the final node.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063240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4808" y="328269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3227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83096" y="3685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to rag · curriculum · socratic · crossskill · reasoning based on classified intent.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343400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45628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4507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" y="49651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Socratic responses, check RAG answers for grounding, log every check to guardrail_logs.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4343400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64808" y="45628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B875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0296" y="4507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83096" y="49651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Capstones are AI-generated but manager-graded against a fixed rubric — no auto-certification.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PostgreSQL tables, one startup migration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556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B4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users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57984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onboarding_requests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manager_accounts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employee_directory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directory_change_log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7556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&amp; RAG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53712" y="2157984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curriculum_topics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doc_embeddings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generated_content_cache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conversation_messages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28432" y="155448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7556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1936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/ CAT &amp; progress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84464" y="2157984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quiz_sessions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quiz_answers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quiz_attempts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user_module_progress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module_test_outs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skill_assessments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66928" y="3621024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38221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B312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7856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224528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capstone_submissions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nba_recommendations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session_summaries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297680" y="3621024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38221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37856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data &amp; projects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53712" y="4224528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manager_hierarchy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role_learning_journey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org_data_upload_batches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· project_members · project_issues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user_certifications · user_utilization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8028432" y="3621024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38221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31936" y="37856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guardrails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84464" y="4224528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llm_logs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guardrail_logs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bw_logs</a:t>
            </a:r>
            <a:endParaRPr lang="en-US" sz="97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3B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reasoning_rate_hits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10512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IMS OAuth + signed session cookie; admin/manager email allow-lists; demo personas are read-only and carry no session.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144768" y="15544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64224" y="1810512"/>
            <a:ext cx="365760" cy="365760"/>
          </a:xfrm>
          <a:prstGeom prst="ellipse">
            <a:avLst/>
          </a:prstGeom>
          <a:solidFill>
            <a:srgbClr val="E43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6288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82512" y="22128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keys in .env (git-ignored, .env.example only); no keys ever reach the browser — every LLM call is server-side.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66928" y="3072384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3328416"/>
            <a:ext cx="365760" cy="36576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2552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7307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Quizzes, notes, capstones and RAG answers are grounded in retrieved Adobe docs; the RAG path runs an explicit hallucination guard.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144768" y="3072384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3328416"/>
            <a:ext cx="365760" cy="365760"/>
          </a:xfrm>
          <a:prstGeom prst="ellipse">
            <a:avLst/>
          </a:prstGeom>
          <a:solidFill>
            <a:srgbClr val="6D3A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32552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resilience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37307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llm_call fails over Groq→Anthropic; agents degrade to sequential execution and blueprint/fallback content if LangGraph or a provider is down.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66928" y="4590288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4846320"/>
            <a:ext cx="365760" cy="365760"/>
          </a:xfrm>
          <a:prstGeom prst="ellipse">
            <a:avLst/>
          </a:prstGeom>
          <a:solidFill>
            <a:srgbClr val="B875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4773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524865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certification is manager-graded; admin uploads are audited (batch logs + change log).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144768" y="4590288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64224" y="4846320"/>
            <a:ext cx="365760" cy="365760"/>
          </a:xfrm>
          <a:prstGeom prst="ellipse">
            <a:avLst/>
          </a:prstGeom>
          <a:solidFill>
            <a:srgbClr val="3B4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4773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exposure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2512" y="524865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in URLs; org data uploaded via admin only; directory changes fully logged.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22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NEXUS DELIVERS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grounded, agentic learning platform —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14884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· 6 LangGraph pipelines with graceful fallback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(BM25 + fastembed + RRF) grounded in live Adobe docs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CAT quizzes, Socratic tutoring, per-track human-graded capstones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→ Anthropic model failover across every generator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214884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personalised journeys: new-joiner onboarding + experienced cross-skilling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Postgres tables; admin-managed tracks, org matrices &amp; directory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hallucination checks + full telemetry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activate pgvector + a live llama-index store to scale the corpus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Agentic AI for Adobe Experience Platform enablement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Agentic AI 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Agentic AI Architecture</dc:title>
  <dc:subject>PptxGenJS Presentation</dc:subject>
  <dc:creator>Nexus</dc:creator>
  <cp:lastModifiedBy>Nexus</cp:lastModifiedBy>
  <cp:revision>1</cp:revision>
  <dcterms:created xsi:type="dcterms:W3CDTF">2026-07-25T17:11:47Z</dcterms:created>
  <dcterms:modified xsi:type="dcterms:W3CDTF">2026-07-25T17:11:47Z</dcterms:modified>
</cp:coreProperties>
</file>